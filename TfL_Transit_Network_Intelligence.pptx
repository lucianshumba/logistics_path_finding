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550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8404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FOR LONDON  ·  CAPSTONE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Network</a:t>
            </a:r>
            <a:endParaRPr lang="en-US" sz="5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20040" y="245059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Pathfinding, Bottleneck Detection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Resilience Analysis of the London Underground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3218688"/>
            <a:ext cx="3200400" cy="27432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3375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Alwyn, Lucia and Lance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35661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Data Science  ·  80-Station Nicola Greco Dataset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1097280"/>
            <a:ext cx="2011680" cy="1051560"/>
          </a:xfrm>
          <a:prstGeom prst="rect">
            <a:avLst/>
          </a:prstGeom>
          <a:solidFill>
            <a:srgbClr val="1C2E40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1097280"/>
            <a:ext cx="201168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858000" y="1755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passengers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Underground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8000" y="2359152"/>
            <a:ext cx="2011680" cy="1051560"/>
          </a:xfrm>
          <a:prstGeom prst="rect">
            <a:avLst/>
          </a:prstGeom>
          <a:solidFill>
            <a:srgbClr val="1C2E40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2359152"/>
            <a:ext cx="201168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24505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58000" y="30175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analysed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model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0" y="3621024"/>
            <a:ext cx="2011680" cy="1051560"/>
          </a:xfrm>
          <a:prstGeom prst="rect">
            <a:avLst/>
          </a:prstGeom>
          <a:solidFill>
            <a:srgbClr val="1C2E40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3621024"/>
            <a:ext cx="201168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71246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58000" y="4279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today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86968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4093783F-4D4E-4BB5-9F4F-1FAC688BA2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7" y="1"/>
            <a:ext cx="9034273" cy="5074920"/>
          </a:xfrm>
          <a:prstGeom prst="rect">
            <a:avLst/>
          </a:prstGeom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50292" cy="1115568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097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1208" y="1389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Context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" y="16459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London Underground, global metro comparison, dataset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304288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304288"/>
            <a:ext cx="50292" cy="11155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3957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" y="2688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" y="29443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conventional tools fall short, 5 research questions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602736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602736"/>
            <a:ext cx="50292" cy="11155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6941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1208" y="3986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" y="42428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the graph model — in plain terms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1005840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005840"/>
            <a:ext cx="50292" cy="11155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097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56048" y="1389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56048" y="16459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Pathfinding, bottlenecks, clusters, resilience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2304288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304288"/>
            <a:ext cx="50292" cy="11155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23957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956048" y="2688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56048" y="29443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steps for TfL — by priority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3602736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602736"/>
            <a:ext cx="50292" cy="11155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36941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956048" y="3986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56048" y="42428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proved, what comes next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86968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BACKGROUND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London Underground in Global Context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74920" y="960120"/>
            <a:ext cx="374904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ZW" dirty="0"/>
          </a:p>
        </p:txBody>
      </p:sp>
      <p:sp>
        <p:nvSpPr>
          <p:cNvPr id="7" name="Shape 4"/>
          <p:cNvSpPr/>
          <p:nvPr/>
        </p:nvSpPr>
        <p:spPr>
          <a:xfrm>
            <a:off x="5074920" y="960120"/>
            <a:ext cx="50292" cy="868680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84648" y="1014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Underground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184648" y="12161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1863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184648" y="138074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272 stations  ·  11 lines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184648" y="1519457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~5M/day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074920" y="1999517"/>
            <a:ext cx="37490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74920" y="1947672"/>
            <a:ext cx="50292" cy="868680"/>
          </a:xfrm>
          <a:prstGeom prst="rect">
            <a:avLst/>
          </a:prstGeom>
          <a:solidFill>
            <a:srgbClr val="0039A6"/>
          </a:solidFill>
          <a:ln w="12700">
            <a:solidFill>
              <a:srgbClr val="0039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84648" y="20025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Subway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184648" y="22037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1904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184648" y="23682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472 stations  ·  36 lines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184648" y="25328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~3.4M/day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74920" y="2935224"/>
            <a:ext cx="37490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74920" y="2935224"/>
            <a:ext cx="50292" cy="868680"/>
          </a:xfrm>
          <a:prstGeom prst="rect">
            <a:avLst/>
          </a:prstGeom>
          <a:solidFill>
            <a:srgbClr val="009B77"/>
          </a:solidFill>
          <a:ln w="12700">
            <a:solidFill>
              <a:srgbClr val="009B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84648" y="29900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Métro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184648" y="319125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1900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184648" y="335584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 stations  ·  16 lines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184648" y="3520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~4.2M/day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074920" y="3913632"/>
            <a:ext cx="3749040" cy="1097280"/>
          </a:xfrm>
          <a:prstGeom prst="rect">
            <a:avLst/>
          </a:prstGeom>
          <a:solidFill>
            <a:srgbClr val="1C2E40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66360" y="39593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London Underground?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166360" y="420624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Oldest metro network in the world — 163 years of layered infrastructure
Most dense zone 1 interchange in any European capital
Ideal complexity for graph analytics stress-testing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86968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70D57FF-A474-43A5-91CA-AC49B7FA8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5" y="976337"/>
            <a:ext cx="5057325" cy="4214341"/>
          </a:xfrm>
          <a:prstGeom prst="rect">
            <a:avLst/>
          </a:prstGeom>
        </p:spPr>
      </p:pic>
      <p:sp>
        <p:nvSpPr>
          <p:cNvPr id="29" name="Shape 16">
            <a:extLst>
              <a:ext uri="{FF2B5EF4-FFF2-40B4-BE49-F238E27FC236}">
                <a16:creationId xmlns:a16="http://schemas.microsoft.com/office/drawing/2014/main" id="{7C3F0886-64CC-4DFA-AD60-7A558B8E5941}"/>
              </a:ext>
            </a:extLst>
          </p:cNvPr>
          <p:cNvSpPr/>
          <p:nvPr/>
        </p:nvSpPr>
        <p:spPr>
          <a:xfrm>
            <a:off x="5148072" y="1673352"/>
            <a:ext cx="118872" cy="118872"/>
          </a:xfrm>
          <a:prstGeom prst="ellipse">
            <a:avLst/>
          </a:prstGeom>
          <a:solidFill>
            <a:srgbClr val="E855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19">
            <a:extLst>
              <a:ext uri="{FF2B5EF4-FFF2-40B4-BE49-F238E27FC236}">
                <a16:creationId xmlns:a16="http://schemas.microsoft.com/office/drawing/2014/main" id="{15503F0D-03B2-49C1-9E4F-4A32FB7F7038}"/>
              </a:ext>
            </a:extLst>
          </p:cNvPr>
          <p:cNvSpPr/>
          <p:nvPr/>
        </p:nvSpPr>
        <p:spPr>
          <a:xfrm>
            <a:off x="5157216" y="1830353"/>
            <a:ext cx="100584" cy="100584"/>
          </a:xfrm>
          <a:prstGeom prst="ellipse">
            <a:avLst/>
          </a:prstGeom>
          <a:solidFill>
            <a:srgbClr val="6A8FAA"/>
          </a:solidFill>
          <a:ln w="12700">
            <a:solidFill>
              <a:srgbClr val="94AFC8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AC4C441-627C-457A-8005-A6F32A9D3440}"/>
              </a:ext>
            </a:extLst>
          </p:cNvPr>
          <p:cNvSpPr/>
          <p:nvPr/>
        </p:nvSpPr>
        <p:spPr>
          <a:xfrm>
            <a:off x="5207508" y="1620397"/>
            <a:ext cx="161745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80-station study subset</a:t>
            </a:r>
            <a:endParaRPr lang="en-US" sz="9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ACB21D-51C7-499C-AB67-CF8931BCBF88}"/>
              </a:ext>
            </a:extLst>
          </p:cNvPr>
          <p:cNvSpPr/>
          <p:nvPr/>
        </p:nvSpPr>
        <p:spPr>
          <a:xfrm>
            <a:off x="5207508" y="1756564"/>
            <a:ext cx="15103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Full </a:t>
            </a:r>
            <a:r>
              <a:rPr lang="en-US" sz="9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TfL</a:t>
            </a:r>
            <a:r>
              <a:rPr lang="en-US" sz="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network (192 more)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BACKGROUND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 — What It Covers and What It Doesn't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3977640" cy="1234440"/>
          </a:xfrm>
          <a:prstGeom prst="rect">
            <a:avLst/>
          </a:prstGeom>
          <a:solidFill>
            <a:srgbClr val="1C2E40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Nicola Greco open-source tube dataset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3 CSV files (stations, connections, lines)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80 stations · 11 lines · 338 connections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Static snapshot — no real-time data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2331720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591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COVERS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02920" y="252374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  of the full TfL network — Zones 1–4 and Zone 9 only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26280" y="9601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THEIR IMPACT ON RESULTS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170432"/>
          <a:ext cx="4343400" cy="220218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missing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says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on findings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D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 count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D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D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D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times distorted — paths route around missing hubs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D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Victoria &amp; W&amp;C lines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D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 only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D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operational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D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lines invisible to every algorithm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D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time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D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seconds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D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2–8 minutes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D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Journeys appear 5–15 min faster than reality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D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 zones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D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Z1–4, Z9 only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D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Z1–9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D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Suburban resilience gaps invisible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D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time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D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always ready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D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1–10 min avg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D1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Multi-change routes understated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11480" y="3063240"/>
            <a:ext cx="8412480" cy="1051560"/>
          </a:xfrm>
          <a:prstGeom prst="rect">
            <a:avLst/>
          </a:prstGeom>
          <a:solidFill>
            <a:srgbClr val="FFF3CD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3063240"/>
            <a:ext cx="50292" cy="10515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31089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today's findings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2920" y="33467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D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patterns and rankings in this study are structurally valid — the relative ordering of bottleneck stations, cluster boundaries, and resilience gaps are real and reproducible. Absolute journey times should not be used for production journey planning without the full 272-station TfL OpenData graph.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86968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PROBLEM &amp; SIGNIFICANCE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to Transport for London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data tools — spreadsheets, SQL databases — can count passengers and record delays. But they cannot answer the questions TfL faces every day: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8321040" cy="502920"/>
          </a:xfrm>
          <a:prstGeom prst="rect">
            <a:avLst/>
          </a:prstGeom>
          <a:solidFill>
            <a:srgbClr val="253B50"/>
          </a:solidFill>
          <a:ln w="10160">
            <a:solidFill>
              <a:srgbClr val="DC24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63040"/>
            <a:ext cx="50292" cy="502920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508760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single station, if closed today, would cause the greatest network disruption?"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8321040" cy="502920"/>
          </a:xfrm>
          <a:prstGeom prst="rect">
            <a:avLst/>
          </a:prstGeom>
          <a:solidFill>
            <a:srgbClr val="253B50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057400"/>
            <a:ext cx="50292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103120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do passengers have no alternative route if a line fails?"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651760"/>
            <a:ext cx="8321040" cy="502920"/>
          </a:xfrm>
          <a:prstGeom prst="rect">
            <a:avLst/>
          </a:prstGeom>
          <a:solidFill>
            <a:srgbClr val="253B50"/>
          </a:solidFill>
          <a:ln w="10160">
            <a:solidFill>
              <a:srgbClr val="0097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651760"/>
            <a:ext cx="50292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697480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communities of stations share the same operational risk?"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337560"/>
            <a:ext cx="2011680" cy="1572768"/>
          </a:xfrm>
          <a:prstGeom prst="rect">
            <a:avLst/>
          </a:prstGeom>
          <a:solidFill>
            <a:srgbClr val="253B50"/>
          </a:solidFill>
          <a:ln w="10160">
            <a:solidFill>
              <a:srgbClr val="DC24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337560"/>
            <a:ext cx="2011680" cy="50292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015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Safety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05079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where disruptions cascade before they happen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06040" y="3337560"/>
            <a:ext cx="2011680" cy="1572768"/>
          </a:xfrm>
          <a:prstGeom prst="rect">
            <a:avLst/>
          </a:prstGeom>
          <a:solidFill>
            <a:srgbClr val="253B50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06040" y="3337560"/>
            <a:ext cx="2011680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34015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69748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Priority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97480" y="405079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stations by true criticality — not intuition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3337560"/>
            <a:ext cx="2011680" cy="1572768"/>
          </a:xfrm>
          <a:prstGeom prst="rect">
            <a:avLst/>
          </a:prstGeom>
          <a:solidFill>
            <a:srgbClr val="253B50"/>
          </a:solidFill>
          <a:ln w="10160">
            <a:solidFill>
              <a:srgbClr val="0097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3337560"/>
            <a:ext cx="201168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4015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89204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Equity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405079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communities with zero route alternatives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95160" y="3337560"/>
            <a:ext cx="2011680" cy="1572768"/>
          </a:xfrm>
          <a:prstGeom prst="rect">
            <a:avLst/>
          </a:prstGeom>
          <a:solidFill>
            <a:srgbClr val="253B50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95160" y="3337560"/>
            <a:ext cx="2011680" cy="502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34015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08660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Planning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86600" y="405079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closures and quantify the real cost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86968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OBJECTIVES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Research Questions, Five Actionable Answers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8321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50292" cy="731520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124712"/>
            <a:ext cx="502920" cy="402336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12471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033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Graph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3258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Tube as a connected property graph — stations as nodes, travel time as edges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86600" y="10332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Results on slides 9–13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1783080"/>
            <a:ext cx="8321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783080"/>
            <a:ext cx="50292" cy="7315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947672"/>
            <a:ext cx="502920" cy="40233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94767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Optimal Routes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148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fastest route between any two stations accounting for real travel time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86600" y="185623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Results on slides 9–13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" y="2606040"/>
            <a:ext cx="8321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606040"/>
            <a:ext cx="50292" cy="7315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770632"/>
            <a:ext cx="502920" cy="40233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77063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2679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Bottlenecks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2971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every station by how critical it is to the flow of the whole network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86600" y="26791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Results on slides 9–13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1480" y="3429000"/>
            <a:ext cx="8321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429000"/>
            <a:ext cx="50292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3593592"/>
            <a:ext cx="502920" cy="40233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359359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" y="3502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Natural Clusters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3000" y="3794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which stations naturally group together — without looking at line or zone data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86600" y="350215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Results on slides 9–13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11480" y="4251960"/>
            <a:ext cx="8321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4251960"/>
            <a:ext cx="50292" cy="7315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4416552"/>
            <a:ext cx="502920" cy="40233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441655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43000" y="4325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Resilience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43000" y="46177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station closures and measure how badly the network is disrupted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86600" y="43251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Results on slides 9–13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86968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METHODOLOGY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Analysed the Network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the Tube as a road map where every station is a town and every rail connection is a road with a travel time. We loaded this into a graph database — software specifically built to answer questions about connections — then ran four types of analysis.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627632"/>
            <a:ext cx="2057400" cy="3291840"/>
          </a:xfrm>
          <a:prstGeom prst="rect">
            <a:avLst/>
          </a:prstGeom>
          <a:solidFill>
            <a:srgbClr val="253B50"/>
          </a:solidFill>
          <a:ln w="10160">
            <a:solidFill>
              <a:srgbClr val="DC24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27632"/>
            <a:ext cx="2057400" cy="50292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733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1920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 files — stations, lines, connections — loaded into Neo4j, a specialised connections database. Validation checks confirm 80 stations and 338 route segments are correctly linked.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24328" y="1636258"/>
            <a:ext cx="2057400" cy="3291840"/>
          </a:xfrm>
          <a:prstGeom prst="rect">
            <a:avLst/>
          </a:prstGeom>
          <a:solidFill>
            <a:srgbClr val="253B50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24328" y="1627632"/>
            <a:ext cx="2057400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16733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15768" y="1938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15768" y="2304288"/>
            <a:ext cx="1920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station becomes a point on a graph. Every rail connection becomes a link labelled with its travel time in minutes. The result: a digital twin of the Tube network.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37176" y="1627632"/>
            <a:ext cx="2057400" cy="3291840"/>
          </a:xfrm>
          <a:prstGeom prst="rect">
            <a:avLst/>
          </a:prstGeom>
          <a:solidFill>
            <a:srgbClr val="253B50"/>
          </a:solidFill>
          <a:ln w="10160">
            <a:solidFill>
              <a:srgbClr val="0097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37176" y="1627632"/>
            <a:ext cx="205740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7176" y="16733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28616" y="1938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Algorithms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28616" y="2304288"/>
            <a:ext cx="1920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algorithms are applied — shortest path (GPS-style routing), betweenness (who is the busiest junction?), PageRank (which stations are connected to the most important other stations?), and community detection (which stations form natural operational clusters?).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50024" y="1627632"/>
            <a:ext cx="2057400" cy="3291840"/>
          </a:xfrm>
          <a:prstGeom prst="rect">
            <a:avLst/>
          </a:prstGeom>
          <a:solidFill>
            <a:srgbClr val="253B50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50024" y="1627632"/>
            <a:ext cx="2057400" cy="502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0024" y="16733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141464" y="1938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Disruptions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41464" y="2304288"/>
            <a:ext cx="1920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virtually close the top-5 most critical stations one at a time and measure how much the network degrades — how many stations become unreachable, how much longer journeys become.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6968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FINDINGS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Revealed — Five Headline Findings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walk through each result, here are the five things you should take away from this study: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8321040" cy="658368"/>
          </a:xfrm>
          <a:prstGeom prst="rect">
            <a:avLst/>
          </a:prstGeom>
          <a:solidFill>
            <a:srgbClr val="253B50"/>
          </a:solidFill>
          <a:ln w="10160">
            <a:solidFill>
              <a:srgbClr val="DC24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53312"/>
            <a:ext cx="50292" cy="658368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1499616"/>
            <a:ext cx="475488" cy="347472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49961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1517904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Park is the network's single most critical station — by a wide margin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103120"/>
            <a:ext cx="8321040" cy="658368"/>
          </a:xfrm>
          <a:prstGeom prst="rect">
            <a:avLst/>
          </a:prstGeom>
          <a:solidFill>
            <a:srgbClr val="253B50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103120"/>
            <a:ext cx="50292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" y="2249424"/>
            <a:ext cx="475488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24942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78992" y="2267712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 houses all top-5 bottlenecks — outer-zone passengers have no fallback routes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2852928"/>
            <a:ext cx="8321040" cy="658368"/>
          </a:xfrm>
          <a:prstGeom prst="rect">
            <a:avLst/>
          </a:prstGeom>
          <a:solidFill>
            <a:srgbClr val="253B50"/>
          </a:solidFill>
          <a:ln w="10160">
            <a:solidFill>
              <a:srgbClr val="0097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852928"/>
            <a:ext cx="50292" cy="6583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" y="2999232"/>
            <a:ext cx="475488" cy="3474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299923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8992" y="301752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London has hidden resilience built in — 32 routes with 4+ line alternatives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3602736"/>
            <a:ext cx="8321040" cy="658368"/>
          </a:xfrm>
          <a:prstGeom prst="rect">
            <a:avLst/>
          </a:prstGeom>
          <a:solidFill>
            <a:srgbClr val="253B50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602736"/>
            <a:ext cx="50292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" y="3749040"/>
            <a:ext cx="475488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" y="374904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78992" y="3767328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clusters match real TfL corridors — the data found them with zero prior knowledge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4352544"/>
            <a:ext cx="8321040" cy="658368"/>
          </a:xfrm>
          <a:prstGeom prst="rect">
            <a:avLst/>
          </a:prstGeom>
          <a:solidFill>
            <a:srgbClr val="253B50"/>
          </a:solidFill>
          <a:ln w="10160">
            <a:solidFill>
              <a:srgbClr val="9B59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4352544"/>
            <a:ext cx="50292" cy="6583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" y="4498848"/>
            <a:ext cx="475488" cy="3474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" y="449884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78992" y="4517136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Kings Cross disrupts 100,000+ daily journeys with no single bus bridge solution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6968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FINDINGS — O1 &amp; O2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Model + Finding Optimal Routes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41148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50292" cy="3931920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— What the graph looks like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3533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(nodes)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581912" y="13533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81912" y="17373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(edges)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569464" y="13533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9464" y="17373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557016" y="13533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57016" y="17373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02920" y="22128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structural facts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24505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Kings Cross St. Pancras connects to 8 different lines — more than any other station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29809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Park connects to 13 neighbouring stations — highest local connectivity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5112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of all stations are in Zone 1 — meaning most journeys must pass through the centre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40416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stations have no connections at all in this dataset — they are invisible to every algorithm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960120"/>
            <a:ext cx="41148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960120"/>
            <a:ext cx="50292" cy="3931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005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 — Fastest route between stations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1417320"/>
            <a:ext cx="3886200" cy="685800"/>
          </a:xfrm>
          <a:prstGeom prst="rect">
            <a:avLst/>
          </a:prstGeom>
          <a:solidFill>
            <a:srgbClr val="FFF3CD"/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4721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Euston → Hammersmith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16916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17 min  ·  Real world: ~9 min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18745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gap? Missing western stations force the algorithm north via Kings Cross — it takes the only mathematical path available in the data.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00600" y="2221992"/>
            <a:ext cx="3886200" cy="685800"/>
          </a:xfrm>
          <a:prstGeom prst="rect">
            <a:avLst/>
          </a:prstGeom>
          <a:solidFill>
            <a:srgbClr val="EEF2F6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2768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Wharf → Paddington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24963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16 min  ·  Real world: ~18 min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3026664"/>
            <a:ext cx="3886200" cy="685800"/>
          </a:xfrm>
          <a:prstGeom prst="rect">
            <a:avLst/>
          </a:prstGeom>
          <a:solidFill>
            <a:srgbClr val="EEF2F6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0815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Putney Bridge → Finsbury Pk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30098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20 min  ·  Real world: ~22 min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3886200"/>
            <a:ext cx="3886200" cy="749808"/>
          </a:xfrm>
          <a:prstGeom prst="rect">
            <a:avLst/>
          </a:prstGeom>
          <a:solidFill>
            <a:srgbClr val="1C2E40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9319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2040" y="41422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routes are valid for comparing options within the dataset. For production journey planning, the full network with real interchange times is essential.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86968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FINDINGS — O3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Stations Are the Real Bottlenecks?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measured two things: how many shortest paths pass through each station (Betweenness), and how well-connected each station's neighbours are (PageRank). Stations ranking high on both are the true irreplaceable nodes.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14813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MOST CRITICAL STATIONS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669280" y="1481328"/>
            <a:ext cx="3154680" cy="2240280"/>
          </a:xfrm>
          <a:prstGeom prst="rect">
            <a:avLst/>
          </a:prstGeom>
          <a:solidFill>
            <a:srgbClr val="253B50"/>
          </a:solidFill>
          <a:ln w="15240">
            <a:solidFill>
              <a:srgbClr val="DC241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0" y="1481328"/>
            <a:ext cx="3154680" cy="50292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0" y="15544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Park</a:t>
            </a:r>
            <a:endParaRPr lang="en-US" sz="1800" dirty="0"/>
          </a:p>
        </p:txBody>
      </p:sp>
      <p:sp>
        <p:nvSpPr>
          <p:cNvPr id="7" name="Text 8"/>
          <p:cNvSpPr/>
          <p:nvPr/>
        </p:nvSpPr>
        <p:spPr>
          <a:xfrm>
            <a:off x="5760720" y="18928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Score: 763.5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760720" y="217627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8 times higher than the network average of 90.5.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760720" y="2542032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Jubilee, Victoria &amp; Piccadilly lines converge here. Close Green Park and three major corridors fracture simultaneously — there is no single alternative interchange that absorbs all three.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3822192"/>
            <a:ext cx="8366760" cy="1115568"/>
          </a:xfrm>
          <a:prstGeom prst="rect">
            <a:avLst/>
          </a:prstGeom>
          <a:solidFill>
            <a:srgbClr val="1A3A2A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1480" y="3822192"/>
            <a:ext cx="50292" cy="11155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3867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Centrality Coefficient of 1.0 mean 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411480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station where all of its neighbours also connect directly to each other. If you removed that station, every neighbour could still reach every other neighbour without it. A score of 1.0 means the station is surrounded by a tight local network — it seems safe to close. Counterintuitively, the most critical stations score LOW here, because their neighbours belong to completely different corridors and cannot reach each other without passing through the hub.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86968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499DC226-D6AB-4A99-80D8-7672156F48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306248"/>
              </p:ext>
            </p:extLst>
          </p:nvPr>
        </p:nvGraphicFramePr>
        <p:xfrm>
          <a:off x="411480" y="1650145"/>
          <a:ext cx="4557336" cy="2140425"/>
        </p:xfrm>
        <a:graphic>
          <a:graphicData uri="http://schemas.openxmlformats.org/drawingml/2006/table">
            <a:tbl>
              <a:tblPr/>
              <a:tblGrid>
                <a:gridCol w="372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3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91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3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6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Station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 err="1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Betweeness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 Centrality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Page Rank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Composite criticality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Green Park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1.000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1.000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1.000 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0A500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7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6EAF8"/>
                          </a:solidFill>
                        </a:rPr>
                        <a:t>Waterloo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7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6EAF8"/>
                          </a:solidFill>
                        </a:rPr>
                        <a:t>0.591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7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6EAF8"/>
                          </a:solidFill>
                        </a:rPr>
                        <a:t>0.863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7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0A500"/>
                          </a:solidFill>
                        </a:rPr>
                        <a:t>0.510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7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0A5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6EAF8"/>
                          </a:solidFill>
                        </a:rPr>
                        <a:t>Kings Cross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6EAF8"/>
                          </a:solidFill>
                        </a:rPr>
                        <a:t>0.480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6EAF8"/>
                          </a:solidFill>
                        </a:rPr>
                        <a:t>0.903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0A500"/>
                          </a:solidFill>
                        </a:rPr>
                        <a:t>0.433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C2CB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7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6EAF8"/>
                          </a:solidFill>
                        </a:rPr>
                        <a:t>Embankment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7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6EAF8"/>
                          </a:solidFill>
                        </a:rPr>
                        <a:t>0.464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7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6EAF8"/>
                          </a:solidFill>
                        </a:rPr>
                        <a:t>0.799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7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C2CB"/>
                          </a:solidFill>
                        </a:rPr>
                        <a:t>0.371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7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C2CB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6EAF8"/>
                          </a:solidFill>
                        </a:rPr>
                        <a:t>High St Ken.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6EAF8"/>
                          </a:solidFill>
                        </a:rPr>
                        <a:t>0.498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6EAF8"/>
                          </a:solidFill>
                        </a:rPr>
                        <a:t>0.605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C2CB"/>
                          </a:solidFill>
                        </a:rPr>
                        <a:t>0.302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FINDINGS — O4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Network Clusters — Found Without Prior Knowledge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Louvain, an algorithm that grouped stations purely based on travel-time connections — with no knowledge of which line or zone each station belongs to. The result: 16 natural clusters that map almost perfectly to TfL's own operational corridors.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1645920" cy="960120"/>
          </a:xfrm>
          <a:prstGeom prst="rect">
            <a:avLst/>
          </a:prstGeom>
          <a:solidFill>
            <a:srgbClr val="1C2E40"/>
          </a:solidFill>
          <a:ln w="10160">
            <a:solidFill>
              <a:srgbClr val="DC24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81328"/>
            <a:ext cx="1645920" cy="50292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361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19933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40280" y="1481328"/>
            <a:ext cx="1645920" cy="960120"/>
          </a:xfrm>
          <a:prstGeom prst="rect">
            <a:avLst/>
          </a:prstGeom>
          <a:solidFill>
            <a:srgbClr val="1C2E40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0280" y="1481328"/>
            <a:ext cx="1645920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15361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240280" y="19933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(strong structure)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069080" y="1481328"/>
            <a:ext cx="1645920" cy="960120"/>
          </a:xfrm>
          <a:prstGeom prst="rect">
            <a:avLst/>
          </a:prstGeom>
          <a:solidFill>
            <a:srgbClr val="1C2E40"/>
          </a:solidFill>
          <a:ln w="10160">
            <a:solidFill>
              <a:srgbClr val="0097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69080" y="1481328"/>
            <a:ext cx="16459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15361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069080" y="19933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span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zones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1480" y="257860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MAJOR CLUSTERS — EACH MAPS TO A REAL TfL CORRIDOR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11480" y="2834640"/>
            <a:ext cx="406908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C24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834640"/>
            <a:ext cx="50292" cy="914400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2907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London / Circle Corridor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1208" y="3200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stations · Zones 1–2 · Matches District/Circle/H&amp;C lines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834640"/>
            <a:ext cx="406908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834640"/>
            <a:ext cx="50292" cy="9144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2907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Jubilee + Northern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73168" y="3200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stations · Zones 1–2 · Southbank &amp; Canada Water corridor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3886200"/>
            <a:ext cx="406908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97A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886200"/>
            <a:ext cx="50292" cy="9144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" y="3959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London / District + Piccadilly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1208" y="4251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stations · Zones 1–3 · Hammersmith to Earls Court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886200"/>
            <a:ext cx="406908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886200"/>
            <a:ext cx="50292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3959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North-Central / Bakerloo + Victoria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73168" y="4251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stations · Zones 1–4 · Paddington to Stonebridge Pk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TfL can restructure incident response teams to match these data-derived boundaries. Alerts become corridor-specific rather than network-wide.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86968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FINDINGS — O5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We Close the Most Critical Stations?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simulated closing the top-5 most critical stations one at a time. Here is what the data shows: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069080" cy="2148840"/>
          </a:xfrm>
          <a:prstGeom prst="rect">
            <a:avLst/>
          </a:prstGeom>
          <a:solidFill>
            <a:srgbClr val="253B50"/>
          </a:solidFill>
          <a:ln w="15240">
            <a:solidFill>
              <a:srgbClr val="DC24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25880"/>
            <a:ext cx="4069080" cy="50292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Park — Maximum Disruption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00784"/>
            <a:ext cx="38862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Jubilee, Victoria &amp; Piccadilly lines fracture simultaneously
No single adjacent station absorbs all three corridors
Detour time: +4 to 15 minutes per affected journey
Every passenger on any of those 3 lines is affected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114800" cy="2148840"/>
          </a:xfrm>
          <a:prstGeom prst="rect">
            <a:avLst/>
          </a:prstGeom>
          <a:solidFill>
            <a:srgbClr val="253B50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325880"/>
            <a:ext cx="4114800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89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Kings Cross — High Volume Disruption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700784"/>
            <a:ext cx="39319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100,000+ passenger journeys per day affected
Northern &amp; Piccadilly corridor breaks apart
Bus bridge cannot handle peak demand at this scale
Network degrades significantly but no station is permanently cut off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566160"/>
            <a:ext cx="8366760" cy="749808"/>
          </a:xfrm>
          <a:prstGeom prst="rect">
            <a:avLst/>
          </a:prstGeom>
          <a:solidFill>
            <a:srgbClr val="0A2A1A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566160"/>
            <a:ext cx="50292" cy="7498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11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good news — Hidden resilience in the centre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8587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route segments have 4 or more lines running in parallel — meaning a single line failure causes zero network disruption in those sections. This is built-in resilience from decades of layered infrastructure. The Farringdon–Moorgate segment has 4 parallel lines: District, Circle, Metropolitan and Hammersmith &amp; City.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4407408"/>
            <a:ext cx="8366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gap: All 32 redundant routes are in Zones 1–2 only. Outer-zone passengers have zero fallback if a line fails.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6968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RECOMMENDATIONS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TfL Should Do  Based on Study Findings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87552"/>
            <a:ext cx="8321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"/>
            <a:ext cx="50292" cy="7315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09560" y="1115568"/>
            <a:ext cx="822960" cy="2560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09560" y="11155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30352" y="1042416"/>
            <a:ext cx="7269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&amp; O2  —  Expand the data foundation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0352" y="1298448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the full 272-station TfL OpenData graph. Restore Victoria and Waterloo &amp; City lines. Add 2–8 min interchange penalties and real service headways. Without this, journey time outputs are indicative only.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810512"/>
            <a:ext cx="8321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810512"/>
            <a:ext cx="50292" cy="731520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09560" y="1938528"/>
            <a:ext cx="822960" cy="256032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1938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0352" y="1865376"/>
            <a:ext cx="7269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  —  Designate Green Park as Tier 1 Critical Asset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0352" y="2121408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highest inspection frequency. Require mandatory impact assessment before any planned closure. Pre-agree a coordinated bus bridge covering Jubilee, Victoria and Piccadilly corridors simultaneously.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2633472"/>
            <a:ext cx="8321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633472"/>
            <a:ext cx="50292" cy="731520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09560" y="2761488"/>
            <a:ext cx="822960" cy="256032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27614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0352" y="2688336"/>
            <a:ext cx="7269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  —  Create a data-driven maintenance priority list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0352" y="2944368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composite criticality scores (Betweenness × PageRank) to rank all stations. Green Park, Waterloo, Kings Cross, Embankment and High Street Kensington are the top five — maintenance investment should reflect this.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456432"/>
            <a:ext cx="8321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456432"/>
            <a:ext cx="50292" cy="7315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09560" y="3584448"/>
            <a:ext cx="82296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35844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30352" y="3511296"/>
            <a:ext cx="7269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  —  Restructure incident response by graph cluster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0352" y="3767328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major clusters map directly to operational corridors. Align incident response teams with these boundaries. Send corridor-specific disruption alerts — not network-wide broadcasts.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4279392"/>
            <a:ext cx="8321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279392"/>
            <a:ext cx="50292" cy="7315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09560" y="4407408"/>
            <a:ext cx="82296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09560" y="44074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30352" y="4334256"/>
            <a:ext cx="7269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  —  Commission an Outer Zone Resilience Review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0352" y="4590288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32 redundant route segments sit in Zones 1–2. Outer-zone passengers have no alternative if a line fails. Use the Elizabeth Line as a benchmark for what orbital investment achieves.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86968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RECOMMENDATIONS — EXTENDED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Future Research &amp; How to Extend This 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869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enhancements would transform this academic model into a live TfL operational tool.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4069080" cy="1261872"/>
          </a:xfrm>
          <a:prstGeom prst="rect">
            <a:avLst/>
          </a:prstGeom>
          <a:solidFill>
            <a:srgbClr val="253B50"/>
          </a:solidFill>
          <a:ln w="10160">
            <a:solidFill>
              <a:srgbClr val="DC24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43000"/>
            <a:ext cx="4069080" cy="45720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21615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Full 272-Station Graph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1208" y="1490472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80-station subset with the complete TfL OpenData network. Green Park's dominance may shift as Baker Street and other hidden hubs appear.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21208" y="202082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Q: How does the criticality ranking change when the full network is visible?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0" y="1143000"/>
            <a:ext cx="4069080" cy="1261872"/>
          </a:xfrm>
          <a:prstGeom prst="rect">
            <a:avLst/>
          </a:prstGeom>
          <a:solidFill>
            <a:srgbClr val="253B50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143000"/>
            <a:ext cx="406908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121615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Live Timetable Integration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81728" y="1490472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 service headways from the TfL GTFS feed. Journey time outputs become accurate enough for passenger-facing journey planning tools.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81728" y="202082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Q: At which times of day do the top-5 bottlenecks shift?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2496312"/>
            <a:ext cx="4069080" cy="1261872"/>
          </a:xfrm>
          <a:prstGeom prst="rect">
            <a:avLst/>
          </a:prstGeom>
          <a:solidFill>
            <a:srgbClr val="253B50"/>
          </a:solidFill>
          <a:ln w="10160">
            <a:solidFill>
              <a:srgbClr val="0097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496312"/>
            <a:ext cx="4069080" cy="45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256946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Interchange Walking Penalty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1208" y="284378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2–8 min transfer cost where passengers must walk between lines. Eliminates the biggest source of systematic route underestimation.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21208" y="337413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Q: Does adding interchange cost change which routes the algorithm recommends?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0" y="2496312"/>
            <a:ext cx="4069080" cy="1261872"/>
          </a:xfrm>
          <a:prstGeom prst="rect">
            <a:avLst/>
          </a:prstGeom>
          <a:solidFill>
            <a:srgbClr val="253B50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496312"/>
            <a:ext cx="4069080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256946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Live Criticality Dashboard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81728" y="284378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betweenness and composite scores in a real-time dashboard fed by TfL's disruption API. Incident response teams gain a live risk view.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81728" y="337413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Q: Does a station's criticality score change materially during nearby engineering works?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" y="3849624"/>
            <a:ext cx="8229600" cy="1261872"/>
          </a:xfrm>
          <a:prstGeom prst="rect">
            <a:avLst/>
          </a:prstGeom>
          <a:solidFill>
            <a:srgbClr val="253B50"/>
          </a:solidFill>
          <a:ln w="10160">
            <a:solidFill>
              <a:srgbClr val="9B59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849624"/>
            <a:ext cx="8229600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" y="39227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Orbital Resilience Modelling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1208" y="4197096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hypothetical new cross-links. Measure how much Green Park's score drops if a new parallel route is added — a quantitative investment case.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0" y="4197096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How much orbital capacity is needed to reduce Green Park's score below 500?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86968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CONCLUSION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Every TfL Decision-Maker Should Remember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25603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60704"/>
            <a:ext cx="8503920" cy="1188720"/>
          </a:xfrm>
          <a:prstGeom prst="rect">
            <a:avLst/>
          </a:prstGeom>
          <a:solidFill>
            <a:srgbClr val="253B50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60704"/>
            <a:ext cx="50292" cy="1188720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197864"/>
            <a:ext cx="502920" cy="502920"/>
          </a:xfrm>
          <a:prstGeom prst="rect">
            <a:avLst/>
          </a:prstGeom>
          <a:solidFill>
            <a:srgbClr val="DC241F"/>
          </a:solidFill>
          <a:ln w="12700">
            <a:solidFill>
              <a:srgbClr val="DC24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197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1338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Park is your most fragile asset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142646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criticality score 8 times higher than average, closing Green Park fractures three major corridors simultaneously. No adjacent station can absorb all three. This requires a dedicated emergency protocol — not a standard closure plan.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194767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Tier 1 Critical Asset designation. Today.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359152"/>
            <a:ext cx="8503920" cy="1188720"/>
          </a:xfrm>
          <a:prstGeom prst="rect">
            <a:avLst/>
          </a:prstGeom>
          <a:solidFill>
            <a:srgbClr val="253B5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359152"/>
            <a:ext cx="50292" cy="1188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496312"/>
            <a:ext cx="50292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43230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network's strength and weakness are in the same place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" y="272491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 holds your deepest resilience — 32 routes with multiple parallel lines, built over 160 years. It also holds 100% of your top-5 most critical single points of failure. Outer-zone passengers have zero alternatives when a line fails.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32461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Commission an Outer Zone Resilience Review before the next orbital investment decision.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657600"/>
            <a:ext cx="8503920" cy="1188720"/>
          </a:xfrm>
          <a:prstGeom prst="rect">
            <a:avLst/>
          </a:prstGeom>
          <a:solidFill>
            <a:srgbClr val="253B50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657600"/>
            <a:ext cx="50292" cy="1188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3794760"/>
            <a:ext cx="502920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7307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analytics changes what questions you can ask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60120" y="40233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can count passengers. Graph analytics can tell you which station's closure would cause the most network-wide disruption — and by exactly how much. This study proves the method works. The full 272-station model is the logical next step.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0120" y="454456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Approve Phase 2 — full TfL OpenData graph + live criticality dashboard.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937760"/>
            <a:ext cx="8503920" cy="164592"/>
          </a:xfrm>
          <a:prstGeom prst="rect">
            <a:avLst/>
          </a:prstGeom>
          <a:solidFill>
            <a:srgbClr val="253B50"/>
          </a:solidFill>
          <a:ln w="12700">
            <a:solidFill>
              <a:srgbClr val="253B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937760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Network Intelligence  ·  Alwyn Shumba  ·  Capstone 2026  ·  Neo4j Graph Data Science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86968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2522</Words>
  <Application>Microsoft Office PowerPoint</Application>
  <PresentationFormat>On-screen Show (16:9)</PresentationFormat>
  <Paragraphs>340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 Network Intelligence — TfL Briefing</dc:title>
  <dc:subject>PptxGenJS Presentation</dc:subject>
  <dc:creator>Alwyn Shumba</dc:creator>
  <cp:lastModifiedBy>user</cp:lastModifiedBy>
  <cp:revision>9</cp:revision>
  <dcterms:created xsi:type="dcterms:W3CDTF">2026-05-08T05:18:43Z</dcterms:created>
  <dcterms:modified xsi:type="dcterms:W3CDTF">2026-05-08T06:54:44Z</dcterms:modified>
</cp:coreProperties>
</file>